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297680" cy="4297680"/>
          </a:xfrm>
          <a:prstGeom prst="ellipse">
            <a:avLst/>
          </a:prstGeom>
          <a:solidFill>
            <a:srgbClr val="420C0F">
              <a:alpha val="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4754880"/>
            <a:ext cx="3840480" cy="384048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566928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084832"/>
            <a:ext cx="9445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98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WEBDEV3  ·  WEEK 11 LECTURE  ·  SEMI-FINAL PERIOD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45059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Development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310128"/>
            <a:ext cx="9445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C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 end, every client — web, mobile, anything that speaks JSON.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2730856" y="4114800"/>
            <a:ext cx="1458468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30856" y="4114800"/>
            <a:ext cx="14584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Design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2204" y="4114800"/>
            <a:ext cx="1632204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72204" y="4114800"/>
            <a:ext cx="1632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7288" y="4114800"/>
            <a:ext cx="1719072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7288" y="41148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Tokens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89240" y="4114800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9240" y="4114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98424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Paldez</a:t>
            </a:r>
            <a:pPr algn="ctr" indent="0" marL="0">
              <a:buNone/>
            </a:pPr>
            <a:r>
              <a:rPr lang="en-US" sz="1200" dirty="0">
                <a:solidFill>
                  <a:srgbClr val="B98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Faculty Member  ·  College of Computer Studies, Trimex Colleges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SESSION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Objectives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813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313432"/>
            <a:ext cx="530352" cy="530352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313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00200" y="213055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RESTful endpoints with correct verbs, status codes, and pagination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730752"/>
            <a:ext cx="530352" cy="530352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30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00200" y="354787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controllers and transform output with API Resources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80060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5148072"/>
            <a:ext cx="530352" cy="530352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148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00200" y="496519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API with Laravel Sanctum tokens and exercise it with Postman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1481328"/>
            <a:ext cx="5148072" cy="4663440"/>
          </a:xfrm>
          <a:prstGeom prst="roundRect">
            <a:avLst>
              <a:gd name="adj" fmla="val 1765"/>
            </a:avLst>
          </a:prstGeom>
          <a:solidFill>
            <a:srgbClr val="17171B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1755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8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48272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269480" y="2176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REST is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48272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69480" y="26609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48272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69480" y="3145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&amp; controllers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3630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69480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748272" y="4114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694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tokens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48272" y="4599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269480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Postman workflow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48272" y="5084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269480" y="5084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checklist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748272" y="5568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269480" y="5568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 9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REST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an API RESTful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645920"/>
            <a:ext cx="5257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nouns addressed by URLs: /api/posts, /api/posts/1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verbs carry the action — the Week 2 table, reused exactly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every request brings its own authentication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JSON, and the status code tells the story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8463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7ECEC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51800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webdev3/icons/globe_m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531613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4846320"/>
            <a:ext cx="3995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app, a JS front end, and a partner system can all share this one back end.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2A1518"/>
          </a:solidFill>
          <a:ln/>
        </p:spPr>
      </p:sp>
      <p:sp>
        <p:nvSpPr>
          <p:cNvPr id="13" name="Text 9"/>
          <p:cNvSpPr/>
          <p:nvPr/>
        </p:nvSpPr>
        <p:spPr>
          <a:xfrm>
            <a:off x="6428232" y="1755648"/>
            <a:ext cx="4864608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/api/posts/1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"Hello API",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"author": "Juan Dela Cruz"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STATUS CODES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in Status Codes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554480"/>
            <a:ext cx="10911535" cy="4453128"/>
          </a:xfrm>
          <a:prstGeom prst="roundRect">
            <a:avLst>
              <a:gd name="adj" fmla="val 1848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91640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691640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the default happy path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2213991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213991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2213991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made something new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2736342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36342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No Content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2736342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with nothing to return — after DELETE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3258693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258693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Unauthorized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3258693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token, or a bad one — authentication failed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" y="3781044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781044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Forbidden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3781044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Authenticated, but not allowed — authorization failed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" y="4303395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303395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4303395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such resource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14400" y="4825746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825746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Unprocessable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4825746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failed — errors arrive as JSON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14400" y="5348097"/>
            <a:ext cx="996696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348097"/>
            <a:ext cx="384048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Too Many Requests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5348097"/>
            <a:ext cx="644652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— Week 3's rate limiter, on the API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API ROUTES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&amp; Controllers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554480"/>
            <a:ext cx="5715000" cy="4526280"/>
          </a:xfrm>
          <a:prstGeom prst="roundRect">
            <a:avLst>
              <a:gd name="adj" fmla="val 1818"/>
            </a:avLst>
          </a:prstGeom>
          <a:solidFill>
            <a:srgbClr val="2A1518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1755648"/>
            <a:ext cx="520293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 (Laravel 11+)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install:api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routes/api.php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Route::apiResource('posts',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PostApiController::class);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registers, under /api: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   /api/posts        index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  /api/posts        store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   /api/posts/{post} show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   /api/posts/{post} update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/api/posts/{post} destroy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15544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install:api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188366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routes/api.php and sets up Sanctum in one command.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20840" y="27249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3054096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and /api-prefixed — and no CSRF middleware here.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20840" y="3895344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apiResource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422452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4 resource conventions minus create/edit — APIs have no HTML forms.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API RESOURCES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Resources — Shape the JSON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554480"/>
            <a:ext cx="5715000" cy="4526280"/>
          </a:xfrm>
          <a:prstGeom prst="roundRect">
            <a:avLst>
              <a:gd name="adj" fmla="val 1818"/>
            </a:avLst>
          </a:prstGeom>
          <a:solidFill>
            <a:srgbClr val="2A1518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1755648"/>
            <a:ext cx="520293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make:resource PostResource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app/Http/Resources/PostResource.php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toArray($request): array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'id'     =&gt; $this-&gt;id,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'title'  =&gt; $this-&gt;title,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'author' =&gt; $this-&gt;user-&gt;name,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controller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PostResource::collection(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Post::with('user')-&gt;paginate(10));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155448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contract, not a dump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188366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 decides exactly which fields leave your app — hide, rename, nest.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20840" y="272491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+ paginate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3054096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pagination links and meta in the JSON — mobile devs will love you.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20840" y="3895344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with('user')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422452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discipline: eager load, or every API row costs a query.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SANCTUM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 — Token Authentication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645920"/>
            <a:ext cx="5257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personal access tokens; clients send them on every request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Authorization: Bearer header carries the token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auth:sanctum middleware guards API routes the way auth guarded web routes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session, no cookie — stateless, exactly as REST wants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8463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7ECEC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51800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webdev3/icons/key_m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531613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4846320"/>
            <a:ext cx="3995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tokens like passwords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once at creation; revoke them when a device is lost.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554480"/>
            <a:ext cx="5376672" cy="4526280"/>
          </a:xfrm>
          <a:prstGeom prst="roundRect">
            <a:avLst>
              <a:gd name="adj" fmla="val 1818"/>
            </a:avLst>
          </a:prstGeom>
          <a:solidFill>
            <a:srgbClr val="2A1518"/>
          </a:solidFill>
          <a:ln/>
        </p:spPr>
      </p:sp>
      <p:sp>
        <p:nvSpPr>
          <p:cNvPr id="13" name="Text 9"/>
          <p:cNvSpPr/>
          <p:nvPr/>
        </p:nvSpPr>
        <p:spPr>
          <a:xfrm>
            <a:off x="6428232" y="1755648"/>
            <a:ext cx="4864608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issue a token (e.g. after login)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$token = $user-&gt;createToken('mobile')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-&gt;plainTextToken;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protect the API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Route::middleware('auth:sanctum')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-&gt;group(function ()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Route::apiResource('posts',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PostApiController::class);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A82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client sends, every time: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5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1|xTk9...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POSTMAN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Postman Workflow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572768"/>
            <a:ext cx="5806440" cy="987552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" y="1810512"/>
            <a:ext cx="512064" cy="512064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72768" y="1700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request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572768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http://127.0.0.1:8000/api/posts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715768"/>
            <a:ext cx="5806440" cy="987552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2953512"/>
            <a:ext cx="512064" cy="512064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72768" y="2843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your token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572768" y="3172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858768"/>
            <a:ext cx="5806440" cy="987552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536" y="4096512"/>
            <a:ext cx="512064" cy="512064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72768" y="3986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&amp; inspect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572768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the status code AND the JSON body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5001768"/>
            <a:ext cx="5806440" cy="987552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9536" y="5239512"/>
            <a:ext cx="512064" cy="512064"/>
          </a:xfrm>
          <a:prstGeom prst="ellipse">
            <a:avLst/>
          </a:prstGeom>
          <a:solidFill>
            <a:srgbClr val="5A0F13"/>
          </a:solidFill>
          <a:ln/>
        </p:spPr>
      </p:sp>
      <p:sp>
        <p:nvSpPr>
          <p:cNvPr id="24" name="Text 21"/>
          <p:cNvSpPr/>
          <p:nvPr/>
        </p:nvSpPr>
        <p:spPr>
          <a:xfrm>
            <a:off x="859536" y="5239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572768" y="5129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a collection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572768" y="5458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11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saved request per endpoint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58000" y="1737360"/>
            <a:ext cx="4690872" cy="3108960"/>
          </a:xfrm>
          <a:prstGeom prst="roundRect">
            <a:avLst>
              <a:gd name="adj" fmla="val 2647"/>
            </a:avLst>
          </a:prstGeom>
          <a:solidFill>
            <a:srgbClr val="17171B"/>
          </a:solidFill>
          <a:ln/>
        </p:spPr>
      </p:sp>
      <p:sp>
        <p:nvSpPr>
          <p:cNvPr id="28" name="Text 25"/>
          <p:cNvSpPr/>
          <p:nvPr/>
        </p:nvSpPr>
        <p:spPr>
          <a:xfrm>
            <a:off x="7150608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COLLECTION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50608" y="23774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Postman collection is your API's clickable test suite — every endpoint, ready to re-run after each change. Exporting it is part of Lab 9.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858000" y="5120640"/>
            <a:ext cx="4690872" cy="960120"/>
          </a:xfrm>
          <a:prstGeom prst="roundRect">
            <a:avLst>
              <a:gd name="adj" fmla="val 8571"/>
            </a:avLst>
          </a:prstGeom>
          <a:solidFill>
            <a:srgbClr val="F7ECEC"/>
          </a:solidFill>
          <a:ln/>
        </p:spPr>
      </p:sp>
      <p:sp>
        <p:nvSpPr>
          <p:cNvPr id="31" name="Text 28"/>
          <p:cNvSpPr/>
          <p:nvPr/>
        </p:nvSpPr>
        <p:spPr>
          <a:xfrm>
            <a:off x="7114032" y="5120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sad paths too: </a:t>
            </a:r>
            <a:pPr indent="0" marL="0">
              <a:buNone/>
            </a:pPr>
            <a:r>
              <a:rPr lang="en-US" sz="1150" dirty="0">
                <a:solidFill>
                  <a:srgbClr val="6E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→ 401, bad input → 422.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 Checklist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00200"/>
            <a:ext cx="10911535" cy="1033272"/>
          </a:xfrm>
          <a:prstGeom prst="roundRect">
            <a:avLst>
              <a:gd name="adj" fmla="val 7965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842516"/>
            <a:ext cx="548640" cy="548640"/>
          </a:xfrm>
          <a:prstGeom prst="ellipse">
            <a:avLst/>
          </a:prstGeom>
          <a:solidFill>
            <a:srgbClr val="5A0F13"/>
          </a:solidFill>
          <a:ln/>
        </p:spPr>
      </p:sp>
      <p:pic>
        <p:nvPicPr>
          <p:cNvPr id="9" name="Image 1" descr="/home/claude/webdev3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1968703"/>
            <a:ext cx="296266" cy="2962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176479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 nouns, not verbs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737360" y="2075688"/>
            <a:ext cx="9555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/api/posts — never /api/getAllPosts. The verb is already in the method.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770632"/>
            <a:ext cx="10911535" cy="1033272"/>
          </a:xfrm>
          <a:prstGeom prst="roundRect">
            <a:avLst>
              <a:gd name="adj" fmla="val 7965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3012948"/>
            <a:ext cx="548640" cy="548640"/>
          </a:xfrm>
          <a:prstGeom prst="ellipse">
            <a:avLst/>
          </a:prstGeom>
          <a:solidFill>
            <a:srgbClr val="5A0F13"/>
          </a:solidFill>
          <a:ln/>
        </p:spPr>
      </p:sp>
      <p:pic>
        <p:nvPicPr>
          <p:cNvPr id="14" name="Image 2" descr="/home/claude/webdev3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3139135"/>
            <a:ext cx="296266" cy="2962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93522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 sparingly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737360" y="3246120"/>
            <a:ext cx="9555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/api/posts/1/comments is fine; three levels deep is a maze.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3941064"/>
            <a:ext cx="10911535" cy="1033272"/>
          </a:xfrm>
          <a:prstGeom prst="roundRect">
            <a:avLst>
              <a:gd name="adj" fmla="val 7965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4183380"/>
            <a:ext cx="548640" cy="548640"/>
          </a:xfrm>
          <a:prstGeom prst="ellipse">
            <a:avLst/>
          </a:prstGeom>
          <a:solidFill>
            <a:srgbClr val="5A0F13"/>
          </a:solidFill>
          <a:ln/>
        </p:spPr>
      </p:sp>
      <p:pic>
        <p:nvPicPr>
          <p:cNvPr id="19" name="Image 3" descr="/home/claude/webdev3/icons/column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" y="4309567"/>
            <a:ext cx="296266" cy="2962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10565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 every list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737360" y="4416552"/>
            <a:ext cx="9555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paginate(10) on collections — no client wants 10,000 rows at once.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5111496"/>
            <a:ext cx="10911535" cy="1033272"/>
          </a:xfrm>
          <a:prstGeom prst="roundRect">
            <a:avLst>
              <a:gd name="adj" fmla="val 7965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4400" y="5353812"/>
            <a:ext cx="548640" cy="548640"/>
          </a:xfrm>
          <a:prstGeom prst="ellipse">
            <a:avLst/>
          </a:prstGeom>
          <a:solidFill>
            <a:srgbClr val="5A0F13"/>
          </a:solidFill>
          <a:ln/>
        </p:spPr>
      </p:sp>
      <p:pic>
        <p:nvPicPr>
          <p:cNvPr id="24" name="Image 4" descr="/home/claude/webdev3/icon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" y="5479999"/>
            <a:ext cx="296266" cy="29626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527608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when public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737360" y="5586984"/>
            <a:ext cx="9555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with /api/v1 so future changes never break old clients.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7395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Week 11 Lecture · RESTful API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64240" y="64739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E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LECTURE · LABORATORY · 3 HOURS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58368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Exercise 9 — Expose the API</a:t>
            </a:r>
            <a:endParaRPr lang="en-US" sz="3000" dirty="0"/>
          </a:p>
        </p:txBody>
      </p:sp>
      <p:pic>
        <p:nvPicPr>
          <p:cNvPr id="6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274320"/>
            <a:ext cx="9601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508760"/>
            <a:ext cx="6537960" cy="4572000"/>
          </a:xfrm>
          <a:prstGeom prst="roundRect">
            <a:avLst>
              <a:gd name="adj" fmla="val 1800"/>
            </a:avLst>
          </a:prstGeom>
          <a:solidFill>
            <a:srgbClr val="F7F7F8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18013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E11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7556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apiResource endpoints live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057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 served as JSON under /api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26609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E11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61518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shaping output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2916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PostResource (or similar) controls the fields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35204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E111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47472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 protecting routes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71600" y="3776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→ 401; valid token → data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4400" y="43799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E11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43342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endpoint in Postman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46360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and sad path both exercised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4400" y="523951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E11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71600" y="51937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exported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71600" y="54955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.json collection file submitted with the lab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06640" y="1508760"/>
            <a:ext cx="4142232" cy="4572000"/>
          </a:xfrm>
          <a:prstGeom prst="roundRect">
            <a:avLst>
              <a:gd name="adj" fmla="val 1987"/>
            </a:avLst>
          </a:prstGeom>
          <a:solidFill>
            <a:srgbClr val="17171B"/>
          </a:solidFill>
          <a:ln/>
        </p:spPr>
      </p:sp>
      <p:sp>
        <p:nvSpPr>
          <p:cNvPr id="24" name="Text 21"/>
          <p:cNvSpPr/>
          <p:nvPr/>
        </p:nvSpPr>
        <p:spPr>
          <a:xfrm>
            <a:off x="7699248" y="1783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99248" y="20848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token-secured API with a Postman collection.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699248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VIA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699248" y="34107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Postman run-through: 200, 201, 401, and 422 on demand.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699248" y="4343400"/>
            <a:ext cx="3566160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99248" y="45262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meeting — Quiz 9: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C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API design. Know your status codes cold.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2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420C0F">
              <a:alpha val="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0" descr="/home/claude/webdev3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77724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574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 has an API now.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C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 ·  status codes  ·  apiResource  ·  API Resources  ·  Sanctum  ·  Postman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27248" y="3794760"/>
            <a:ext cx="5943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27248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E8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10128" y="4297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— Testing: prove the auth and the API work, automatically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84248" y="5394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8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Postman collection to the lab — and review these slides for Quiz 9.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984248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8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WEBDEV3 · Web Framework Laravel Development · College of Computer Studies, Trimex Colleges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WEBDEV3 Week 11 Lecture - RESTful API Development</dc:title>
  <dc:subject>PptxGenJS Presentation</dc:subject>
  <dc:creator>Alfred Paldez</dc:creator>
  <cp:lastModifiedBy>Alfred Paldez</cp:lastModifiedBy>
  <cp:revision>1</cp:revision>
  <dcterms:created xsi:type="dcterms:W3CDTF">2026-08-16T15:57:11Z</dcterms:created>
  <dcterms:modified xsi:type="dcterms:W3CDTF">2026-08-16T15:57:11Z</dcterms:modified>
</cp:coreProperties>
</file>